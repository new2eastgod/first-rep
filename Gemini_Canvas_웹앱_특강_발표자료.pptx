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81" r:id="rId16"/>
    <p:sldId id="270" r:id="rId17"/>
    <p:sldId id="271" r:id="rId18"/>
    <p:sldId id="278" r:id="rId19"/>
    <p:sldId id="272" r:id="rId20"/>
    <p:sldId id="273" r:id="rId21"/>
    <p:sldId id="274" r:id="rId22"/>
    <p:sldId id="279" r:id="rId23"/>
    <p:sldId id="275" r:id="rId24"/>
    <p:sldId id="280" r:id="rId25"/>
    <p:sldId id="276" r:id="rId26"/>
    <p:sldId id="277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611"/>
    <p:restoredTop sz="94610"/>
  </p:normalViewPr>
  <p:slideViewPr>
    <p:cSldViewPr snapToGrid="0" snapToObjects="1">
      <p:cViewPr varScale="1">
        <p:scale>
          <a:sx n="213" d="100"/>
          <a:sy n="213" d="100"/>
        </p:scale>
        <p:origin x="30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658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1775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표지입니다. 오늘은 Gemini Canvas로 웹앱 초안을 만들고, GitHub에 올린 뒤 Vercel로 배포해 실제 공개 URL까지 만드는 흐름을 2시간 동안 실습합니다.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실습이 끝나면 세 가지 결과물이 남습니다. 작동하는 웹앱, GitHub 저장소, 그리고 공개 URL입니다. 단순히 만들기에서 끝나지 않고 공유 가능한 상태까지 가는 것이 핵심입니다.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 흐름은 아이디어, 제작, 수정, 저장, 배포, 공유 순서입니다. 처음부터 완벽한 앱을 만들기보다 작은 기능이 실제로 작동하도록 만드는 데 집중하겠습니다.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바이브 코딩은 코드를 한 줄씩 직접 쓰는 방식만 의미하지 않습니다. 내가 원하는 것을 자연어로 설명하고, AI가 만든 결과를 보면서 수정하고 결정하는 협업 방식입니다.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AI는 빠르게 초안을 만들고 반복 작업을 줄여줍니다. 하지만 무엇을 만들지 정하고, 나온 결과가 맞는지 검토하고, 최종 결정을 내리는 책임은 사용자에게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실습 전에 계정과 네트워크를 꼭 확인합니다. 특히 GitHub와 Vercel은 로그인 상태를 미리 준비해두면 배포 단계에서 시간을 크게 아낄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앱을 만들기 전에 짧은 기획 캔버스를 채웁니다. 서비스 이름, 누가 쓰는지, 어떤 문제를 해결하는지, 핵심 기능 세 가지, 디자인 키워드 정도만 정해도 프롬프트 품질이 좋아집니다.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2시간 특강에서는 욕심을 줄이는 것이 실력입니다. 로그인, 결제, 데이터베이스 같은 요소는 제외하고, 핵심 기능 세 가지 정도로 작게 시작해야 완성과 배포까지 도달하기 쉽습니다.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예시 서비스는 집중 타이머와 체크리스트입니다. 기능이 명확하고 화면으로 결과가 잘 보여서 바이브 코딩 입문 실습에 아주 적합합니다.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좋은 프롬프트는 막연한 요청이 아니라 구조가 있습니다. 대상, 목적, 기능, 디자인, 기술 조건을 포함하면 AI가 더 정확한 초안을 만들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슬라이드는 바로 복사해 사용할 수 있는 기본 프롬프트 예시입니다. 대상, 기능, 디자인, 기술 조건이 모두 들어가 있다는 점을 확인해 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실습 단계는 생성, 미리보기, 점검, 수정 요청입니다. 한 번 생성하고 끝내지 말고, 화면을 보며 버튼과 문구를 확인하고 다시 요청하는 반복이 중요합니다.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수정 요청은 구체적으로 할수록 좋습니다. 디자인 개선, 기능 추가, 오류 해결처럼 목적을 나눠서 짧고 명확하게 요청하면 결과가 좋아집니다.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오류 설명은 감상이 아니라 정보입니다. 기대 동작, 실제 동작, 오류 메시지, 수정 요청을 나눠서 말하면 AI가 문제를 더 정확하게 파악할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GitHub는 코드를 저장하고 기록하는 온라인 공간입니다. Repository는 저장소, Commit은 변경 기록, README는 프로젝트 소개 글이라고 이해하면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GitHub 업로드는 어렵지 않습니다. 새 저장소를 만들고, 파일을 올리고, Commit으로 기록하고, README에 서비스 소개를 적으면 기본 준비가 끝납니다.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README는 프로젝트의 첫인상입니다. 서비스 소개, 주요 기능, 사용 도구, 배포 주소 정도만 정리해도 훨씬 완성도 있어 보입니다.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Vercel은 GitHub에 있는 코드를 실제 웹사이트로 보여주는 배포 서비스입니다. GitHub가 저장소라면, Vercel은 공개 URL을 만들어주는 무대라고 생각하면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Vercel 배포 흐름은 로그인, 새 프로젝트 추가, GitHub 연결, 저장소 선택, Deploy, URL 확인 순서입니다. 대부분은 클릭 몇 번으로 진행됩니다.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배포 후에는 404, CSS 미적용, 버튼 미작동, 빌드 오류 같은 문제가 자주 생깁니다. 이때는 파일 이름, 경로, 콘솔 메시지, 최근 수정 내용을 차례로 확인하면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마지막으로 전체 과정을 체크합니다. 제작, 개선, 업로드, README, 배포 URL, 공유 준비까지 확인하면 오늘의 목표를 모두 달성한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 슬라이드입니다. 학생들은 30초 발표 형식으로 자신의 서비스 이름, 해결 문제, 마음에 드는 기능, 배포 URL을 공유하면 됩니다. 이후에는 다크모드, 저장 기능, API 연결처럼 확장해볼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DUTECH">
    <p:bg>
      <p:bgPr>
        <a:solidFill>
          <a:srgbClr val="F7F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F"/>
          </a:solidFill>
          <a:ln w="12700">
            <a:solidFill>
              <a:srgbClr val="F7F9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4754880"/>
            <a:ext cx="8321040" cy="9144"/>
          </a:xfrm>
          <a:prstGeom prst="rect">
            <a:avLst/>
          </a:prstGeom>
          <a:solidFill>
            <a:srgbClr val="E8EDFF"/>
          </a:solidFill>
          <a:ln w="12700">
            <a:solidFill>
              <a:srgbClr val="E8ED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81888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6A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Vibe Coding 특강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6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6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EF3FF"/>
          </a:solidFill>
          <a:ln w="12700">
            <a:solidFill>
              <a:srgbClr val="EEF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548640"/>
            <a:ext cx="1920240" cy="1920240"/>
          </a:xfrm>
          <a:prstGeom prst="roundRect">
            <a:avLst>
              <a:gd name="adj" fmla="val 8571"/>
            </a:avLst>
          </a:prstGeom>
          <a:solidFill>
            <a:srgbClr val="DDE8FF"/>
          </a:solidFill>
          <a:ln w="12700">
            <a:solidFill>
              <a:srgbClr val="DDE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29400" y="960120"/>
            <a:ext cx="1097280" cy="10972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FE0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03720" y="1234440"/>
            <a:ext cx="548640" cy="201168"/>
          </a:xfrm>
          <a:prstGeom prst="roundRect">
            <a:avLst>
              <a:gd name="adj" fmla="val 22727"/>
            </a:avLst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12280" y="1536192"/>
            <a:ext cx="731520" cy="73152"/>
          </a:xfrm>
          <a:prstGeom prst="roundRect">
            <a:avLst>
              <a:gd name="adj" fmla="val 37500"/>
            </a:avLst>
          </a:prstGeom>
          <a:solidFill>
            <a:srgbClr val="A8B8E8"/>
          </a:solidFill>
          <a:ln w="12700">
            <a:solidFill>
              <a:srgbClr val="A8B8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91440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 Canvas로 만드는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1F2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나만의 웹앱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58368" y="2240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F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업로드와 Vercel 배포까지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2788920"/>
            <a:ext cx="1280160" cy="310896"/>
          </a:xfrm>
          <a:prstGeom prst="roundRect">
            <a:avLst>
              <a:gd name="adj" fmla="val 35294"/>
            </a:avLst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80720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2시간 실습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29968" y="2788920"/>
            <a:ext cx="1371600" cy="310896"/>
          </a:xfrm>
          <a:prstGeom prst="roundRect">
            <a:avLst>
              <a:gd name="adj" fmla="val 35294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29968" y="280720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대상: 고등학생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44957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A86A8"/>
                </a:solidFill>
              </a:rPr>
              <a:t>흐름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34440" y="3285744"/>
            <a:ext cx="4389120" cy="570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F2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 Canvas  →  GitHub  →  Vercel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897880" y="2971800"/>
            <a:ext cx="2514600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26480" y="32004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A86A8"/>
                </a:solidFill>
              </a:rPr>
              <a:t>오늘의 목표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345643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552"/>
                </a:solidFill>
              </a:rPr>
              <a:t>내 아이디어를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F2552"/>
                </a:solidFill>
              </a:rPr>
              <a:t>실제 URL까지 공개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6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완성할 것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224028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645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552"/>
                </a:solidFill>
              </a:rPr>
              <a:t>웹앱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E4A6D"/>
                </a:solidFill>
              </a:rPr>
              <a:t>아이디어가 작동하는 화면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40280" y="1572768"/>
            <a:ext cx="411480" cy="411480"/>
          </a:xfrm>
          <a:prstGeom prst="ellipse">
            <a:avLst/>
          </a:prstGeom>
          <a:solidFill>
            <a:srgbClr val="E9FBF4"/>
          </a:solidFill>
          <a:ln w="12700">
            <a:solidFill>
              <a:srgbClr val="DDE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54680" y="1371600"/>
            <a:ext cx="2240280" cy="1965960"/>
          </a:xfrm>
          <a:prstGeom prst="roundRect">
            <a:avLst>
              <a:gd name="adj" fmla="val 6512"/>
            </a:avLst>
          </a:prstGeom>
          <a:solidFill>
            <a:srgbClr val="F5F1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37560" y="1645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552"/>
                </a:solidFill>
              </a:rPr>
              <a:t>GitHub 저장소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337560" y="21488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E4A6D"/>
                </a:solidFill>
              </a:rPr>
              <a:t>코드를 저장하고 기록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572768"/>
            <a:ext cx="411480" cy="411480"/>
          </a:xfrm>
          <a:prstGeom prst="ellipse">
            <a:avLst/>
          </a:prstGeom>
          <a:solidFill>
            <a:srgbClr val="F1ECFF"/>
          </a:solidFill>
          <a:ln w="12700">
            <a:solidFill>
              <a:srgbClr val="DDE5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0" y="1371600"/>
            <a:ext cx="224028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852160" y="16459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</a:rPr>
              <a:t>공개 배포 URL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852160" y="21488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E4A6D"/>
                </a:solidFill>
              </a:rPr>
              <a:t>친구에게 바로 공유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269480" y="1572768"/>
            <a:ext cx="411480" cy="411480"/>
          </a:xfrm>
          <a:prstGeom prst="ellipse">
            <a:avLst/>
          </a:prstGeom>
          <a:solidFill>
            <a:srgbClr val="EAF2FF"/>
          </a:solidFill>
          <a:ln w="12700">
            <a:solidFill>
              <a:srgbClr val="DDE5FF"/>
            </a:solidFill>
            <a:prstDash val="solid"/>
          </a:ln>
        </p:spPr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11277520-C106-2B27-0DEF-975EC8D23CE5}"/>
              </a:ext>
            </a:extLst>
          </p:cNvPr>
          <p:cNvGrpSpPr/>
          <p:nvPr/>
        </p:nvGrpSpPr>
        <p:grpSpPr>
          <a:xfrm>
            <a:off x="1234440" y="3492590"/>
            <a:ext cx="1051560" cy="457200"/>
            <a:chOff x="640080" y="3474720"/>
            <a:chExt cx="1051560" cy="457200"/>
          </a:xfrm>
        </p:grpSpPr>
        <p:sp>
          <p:nvSpPr>
            <p:cNvPr id="15" name="Shape 13"/>
            <p:cNvSpPr/>
            <p:nvPr/>
          </p:nvSpPr>
          <p:spPr>
            <a:xfrm>
              <a:off x="640080" y="3474720"/>
              <a:ext cx="1051560" cy="457200"/>
            </a:xfrm>
            <a:prstGeom prst="roundRect">
              <a:avLst>
                <a:gd name="adj" fmla="val 24000"/>
              </a:avLst>
            </a:prstGeom>
            <a:solidFill>
              <a:srgbClr val="EAF2FF"/>
            </a:solidFill>
            <a:ln w="12700">
              <a:solidFill>
                <a:srgbClr val="DDE5FF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>
            <a:xfrm>
              <a:off x="685800" y="3547872"/>
              <a:ext cx="96012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F2552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1. 제작</a:t>
              </a:r>
              <a:endParaRPr lang="en-US" sz="1000" dirty="0"/>
            </a:p>
          </p:txBody>
        </p:sp>
      </p:grpSp>
      <p:sp>
        <p:nvSpPr>
          <p:cNvPr id="17" name="Text 15"/>
          <p:cNvSpPr/>
          <p:nvPr/>
        </p:nvSpPr>
        <p:spPr>
          <a:xfrm>
            <a:off x="2903220" y="35935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</a:rPr>
              <a:t>→</a:t>
            </a:r>
            <a:endParaRPr lang="en-US" sz="1800" dirty="0"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5D2D84E6-CB95-1500-C616-F3A616417713}"/>
              </a:ext>
            </a:extLst>
          </p:cNvPr>
          <p:cNvGrpSpPr/>
          <p:nvPr/>
        </p:nvGrpSpPr>
        <p:grpSpPr>
          <a:xfrm>
            <a:off x="3749040" y="3520440"/>
            <a:ext cx="1051560" cy="457200"/>
            <a:chOff x="2331720" y="3474720"/>
            <a:chExt cx="1051560" cy="457200"/>
          </a:xfrm>
        </p:grpSpPr>
        <p:sp>
          <p:nvSpPr>
            <p:cNvPr id="18" name="Shape 16"/>
            <p:cNvSpPr/>
            <p:nvPr/>
          </p:nvSpPr>
          <p:spPr>
            <a:xfrm>
              <a:off x="2331720" y="3474720"/>
              <a:ext cx="1051560" cy="457200"/>
            </a:xfrm>
            <a:prstGeom prst="roundRect">
              <a:avLst>
                <a:gd name="adj" fmla="val 24000"/>
              </a:avLst>
            </a:prstGeom>
            <a:solidFill>
              <a:srgbClr val="F1ECFF"/>
            </a:solidFill>
            <a:ln w="12700">
              <a:solidFill>
                <a:srgbClr val="DDE5FF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2377440" y="3547872"/>
              <a:ext cx="96012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F2552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2. 저장</a:t>
              </a:r>
              <a:endParaRPr lang="en-US" sz="1000" dirty="0"/>
            </a:p>
          </p:txBody>
        </p:sp>
      </p:grpSp>
      <p:sp>
        <p:nvSpPr>
          <p:cNvPr id="20" name="Text 18"/>
          <p:cNvSpPr/>
          <p:nvPr/>
        </p:nvSpPr>
        <p:spPr>
          <a:xfrm>
            <a:off x="5486402" y="362975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</a:rPr>
              <a:t>→</a:t>
            </a:r>
            <a:endParaRPr lang="en-US" sz="1800" dirty="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D44BA926-D57A-A82B-5249-3FE73B8D943D}"/>
              </a:ext>
            </a:extLst>
          </p:cNvPr>
          <p:cNvGrpSpPr/>
          <p:nvPr/>
        </p:nvGrpSpPr>
        <p:grpSpPr>
          <a:xfrm>
            <a:off x="6332220" y="3520440"/>
            <a:ext cx="1051560" cy="457200"/>
            <a:chOff x="6264537" y="3492590"/>
            <a:chExt cx="1051560" cy="457200"/>
          </a:xfrm>
        </p:grpSpPr>
        <p:sp>
          <p:nvSpPr>
            <p:cNvPr id="21" name="Shape 19"/>
            <p:cNvSpPr/>
            <p:nvPr/>
          </p:nvSpPr>
          <p:spPr>
            <a:xfrm>
              <a:off x="6264537" y="3492590"/>
              <a:ext cx="1051560" cy="457200"/>
            </a:xfrm>
            <a:prstGeom prst="roundRect">
              <a:avLst>
                <a:gd name="adj" fmla="val 24000"/>
              </a:avLst>
            </a:prstGeom>
            <a:solidFill>
              <a:srgbClr val="EAF2FF"/>
            </a:solidFill>
            <a:ln w="12700">
              <a:solidFill>
                <a:srgbClr val="DDE5FF"/>
              </a:solidFill>
              <a:prstDash val="solid"/>
            </a:ln>
          </p:spPr>
        </p:sp>
        <p:sp>
          <p:nvSpPr>
            <p:cNvPr id="22" name="Text 20"/>
            <p:cNvSpPr/>
            <p:nvPr/>
          </p:nvSpPr>
          <p:spPr>
            <a:xfrm>
              <a:off x="6310257" y="3565742"/>
              <a:ext cx="96012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1F2552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3. 배포</a:t>
              </a:r>
              <a:endParaRPr lang="en-US" sz="1000" dirty="0"/>
            </a:p>
          </p:txBody>
        </p:sp>
      </p:grp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6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전체 로드맵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828800"/>
            <a:ext cx="1143000" cy="123444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50392" y="1965960"/>
            <a:ext cx="438912" cy="438912"/>
          </a:xfrm>
          <a:prstGeom prst="ellipse">
            <a:avLst/>
          </a:prstGeom>
          <a:solidFill>
            <a:srgbClr val="7C4DFF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2066544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12648" y="2560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552"/>
                </a:solidFill>
              </a:rPr>
              <a:t>아이디어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73352" y="221284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892808" y="1828800"/>
            <a:ext cx="1143000" cy="123444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40280" y="1965960"/>
            <a:ext cx="438912" cy="43891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40280" y="2066544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02536" y="2560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552"/>
                </a:solidFill>
              </a:rPr>
              <a:t>제작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063240" y="221284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282696" y="1828800"/>
            <a:ext cx="1143000" cy="123444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30168" y="1965960"/>
            <a:ext cx="438912" cy="438912"/>
          </a:xfrm>
          <a:prstGeom prst="ellipse">
            <a:avLst/>
          </a:prstGeom>
          <a:solidFill>
            <a:srgbClr val="59C3C3"/>
          </a:solidFill>
          <a:ln w="12700">
            <a:solidFill>
              <a:srgbClr val="59C3C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30168" y="2066544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92424" y="2560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552"/>
                </a:solidFill>
              </a:rPr>
              <a:t>수정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53128" y="221284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672584" y="1828800"/>
            <a:ext cx="1143000" cy="123444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0056" y="1965960"/>
            <a:ext cx="438912" cy="43891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0056" y="2066544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82312" y="2560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552"/>
                </a:solidFill>
              </a:rPr>
              <a:t>저장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843016" y="221284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062472" y="1828800"/>
            <a:ext cx="1143000" cy="123444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9944" y="1965960"/>
            <a:ext cx="438912" cy="43891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9944" y="2066544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72200" y="2560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552"/>
                </a:solidFill>
              </a:rPr>
              <a:t>배포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32904" y="221284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452360" y="1828800"/>
            <a:ext cx="1143000" cy="123444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799832" y="1965960"/>
            <a:ext cx="438912" cy="43891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99832" y="2066544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562088" y="2560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2552"/>
                </a:solidFill>
              </a:rPr>
              <a:t>공유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88720" y="3886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E4A6D"/>
                </a:solidFill>
              </a:rPr>
              <a:t>오늘은 큰 서비스보다 “작동하는 작은 서비스”가 목표</a:t>
            </a:r>
            <a:endParaRPr lang="en-US" sz="20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6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바이브 코딩이란?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3657600" cy="2104614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617720" y="1325880"/>
            <a:ext cx="3840480" cy="2125532"/>
          </a:xfrm>
          <a:prstGeom prst="roundRect">
            <a:avLst>
              <a:gd name="adj" fmla="val 5185"/>
            </a:avLst>
          </a:prstGeom>
          <a:solidFill>
            <a:srgbClr val="F2EE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45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552"/>
                </a:solidFill>
              </a:rPr>
              <a:t>자연어로 설명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F6"/>
                </a:solidFill>
              </a:rPr>
              <a:t>“이런 앱을 만들고 싶어”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E4A6D"/>
                </a:solidFill>
              </a:rPr>
              <a:t>아이디어를 말로 설명하면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E4A6D"/>
                </a:solidFill>
              </a:rPr>
              <a:t>AI가 초안을 빠르게 만든다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892040" y="1645920"/>
            <a:ext cx="3029772" cy="341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4DFF"/>
                </a:solidFill>
              </a:rPr>
              <a:t>핵심은 함께 만들기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892040" y="2221992"/>
            <a:ext cx="338328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E4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끝내기보다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E4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→ 확인 → 수정 반복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E4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질문이 좋은 결과를 만든다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6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6F8374-6D21-8D63-2A67-BE6D6D4EF2D5}"/>
              </a:ext>
            </a:extLst>
          </p:cNvPr>
          <p:cNvSpPr txBox="1"/>
          <p:nvPr/>
        </p:nvSpPr>
        <p:spPr>
          <a:xfrm>
            <a:off x="2377440" y="3746922"/>
            <a:ext cx="5157695" cy="86177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ko-KR" altLang="en-US" sz="1600" b="1" i="0" dirty="0">
                <a:solidFill>
                  <a:srgbClr val="1B1D1F"/>
                </a:solidFill>
                <a:effectLst/>
                <a:latin typeface="Pretendard"/>
              </a:rPr>
              <a:t>좋은 프롬프트를 작성하는 능력</a:t>
            </a:r>
            <a:endParaRPr lang="ko-KR" altLang="en-US" sz="1600" b="0" i="0" dirty="0">
              <a:solidFill>
                <a:srgbClr val="1B1D1F"/>
              </a:solidFill>
              <a:effectLst/>
              <a:latin typeface="Pretendard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ko-KR" altLang="en-US" sz="1600" b="1" i="0" dirty="0">
                <a:solidFill>
                  <a:srgbClr val="1B1D1F"/>
                </a:solidFill>
                <a:effectLst/>
                <a:latin typeface="Pretendard"/>
              </a:rPr>
              <a:t>생성 결과를 확인하고 수정하는 능력</a:t>
            </a:r>
            <a:endParaRPr lang="ko-KR" altLang="en-US" sz="1600" b="0" i="0" dirty="0">
              <a:solidFill>
                <a:srgbClr val="1B1D1F"/>
              </a:solidFill>
              <a:effectLst/>
              <a:latin typeface="Pretendard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ko-KR" altLang="en-US" sz="1600" b="1" i="0" dirty="0">
                <a:solidFill>
                  <a:srgbClr val="1B1D1F"/>
                </a:solidFill>
                <a:effectLst/>
                <a:latin typeface="Pretendard"/>
              </a:rPr>
              <a:t>오류를 </a:t>
            </a:r>
            <a:r>
              <a:rPr lang="en-US" altLang="ko-KR" sz="1600" b="1" i="0" dirty="0">
                <a:solidFill>
                  <a:srgbClr val="1B1D1F"/>
                </a:solidFill>
                <a:effectLst/>
                <a:latin typeface="Pretendard"/>
              </a:rPr>
              <a:t>AI</a:t>
            </a:r>
            <a:r>
              <a:rPr lang="ko-KR" altLang="en-US" sz="1600" b="1" i="0" dirty="0">
                <a:solidFill>
                  <a:srgbClr val="1B1D1F"/>
                </a:solidFill>
                <a:effectLst/>
                <a:latin typeface="Pretendard"/>
              </a:rPr>
              <a:t>에게 정확히 설명하고 해결하는 능력</a:t>
            </a:r>
            <a:endParaRPr lang="ko-KR" altLang="en-US" sz="1600" b="0" i="0" dirty="0">
              <a:solidFill>
                <a:srgbClr val="1B1D1F"/>
              </a:solidFill>
              <a:effectLst/>
              <a:latin typeface="Pretendard"/>
            </a:endParaRPr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A088DDD4-539B-2792-246C-609AA894FC74}"/>
              </a:ext>
            </a:extLst>
          </p:cNvPr>
          <p:cNvSpPr/>
          <p:nvPr/>
        </p:nvSpPr>
        <p:spPr>
          <a:xfrm>
            <a:off x="965200" y="3777966"/>
            <a:ext cx="132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b="1" dirty="0"/>
              <a:t>필요 역량</a:t>
            </a:r>
            <a:endParaRPr 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 개발자(사용자)의 역할 분담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3566160" cy="2651760"/>
          </a:xfrm>
          <a:prstGeom prst="roundRect">
            <a:avLst>
              <a:gd name="adj" fmla="val 4828"/>
            </a:avLst>
          </a:prstGeom>
          <a:solidFill>
            <a:srgbClr val="EEF3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846320" y="1371600"/>
            <a:ext cx="3566160" cy="2651760"/>
          </a:xfrm>
          <a:prstGeom prst="roundRect">
            <a:avLst>
              <a:gd name="adj" fmla="val 4828"/>
            </a:avLst>
          </a:prstGeom>
          <a:solidFill>
            <a:srgbClr val="F4F0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691639"/>
            <a:ext cx="2729454" cy="3732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B82F6"/>
                </a:solidFill>
              </a:rPr>
              <a:t>AI가 잘하는 일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05840" y="2220558"/>
            <a:ext cx="256032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342900" indent="-342900">
              <a:buSzPct val="100000"/>
              <a:buChar char="•"/>
            </a:pPr>
            <a:r>
              <a:rPr lang="en-US" sz="1900" dirty="0">
                <a:solidFill>
                  <a:srgbClr val="3E4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초안 만들기</a:t>
            </a:r>
            <a:endParaRPr lang="en-US" sz="1900" dirty="0"/>
          </a:p>
          <a:p>
            <a:pPr marL="342900" indent="-342900">
              <a:buSzPct val="100000"/>
              <a:buChar char="•"/>
            </a:pPr>
            <a:r>
              <a:rPr lang="en-US" sz="1900" dirty="0">
                <a:solidFill>
                  <a:srgbClr val="3E4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작업 줄이기</a:t>
            </a:r>
            <a:endParaRPr lang="en-US" sz="1900" dirty="0"/>
          </a:p>
          <a:p>
            <a:pPr marL="342900" indent="-342900">
              <a:buSzPct val="100000"/>
              <a:buChar char="•"/>
            </a:pPr>
            <a:r>
              <a:rPr lang="en-US" sz="1900" dirty="0">
                <a:solidFill>
                  <a:srgbClr val="3E4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수정 제안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120640" y="1691640"/>
            <a:ext cx="3085054" cy="373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7C4DFF"/>
                </a:solidFill>
              </a:rPr>
              <a:t>사람이 꼭 해야 할 일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120640" y="2220558"/>
            <a:ext cx="2950584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342900" indent="-342900">
              <a:buSzPct val="100000"/>
              <a:buChar char="•"/>
            </a:pPr>
            <a:r>
              <a:rPr lang="en-US" sz="1900" dirty="0">
                <a:solidFill>
                  <a:srgbClr val="3E4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만들지 정하기</a:t>
            </a:r>
            <a:endParaRPr lang="en-US" sz="1900" dirty="0"/>
          </a:p>
          <a:p>
            <a:pPr marL="342900" indent="-342900">
              <a:buSzPct val="100000"/>
              <a:buChar char="•"/>
            </a:pPr>
            <a:r>
              <a:rPr lang="en-US" sz="1900" dirty="0">
                <a:solidFill>
                  <a:srgbClr val="3E4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검토하기</a:t>
            </a:r>
            <a:endParaRPr lang="en-US" sz="1900" dirty="0"/>
          </a:p>
          <a:p>
            <a:pPr marL="342900" indent="-342900">
              <a:buSzPct val="100000"/>
              <a:buChar char="•"/>
            </a:pPr>
            <a:r>
              <a:rPr lang="en-US" sz="1900" dirty="0">
                <a:solidFill>
                  <a:srgbClr val="3E4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결정 내리기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6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전 체크리스트</a:t>
            </a:r>
            <a:endParaRPr lang="en-US" sz="2800" dirty="0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ACDF7B39-8593-56CF-94E2-5FFB1A13E8F4}"/>
              </a:ext>
            </a:extLst>
          </p:cNvPr>
          <p:cNvGrpSpPr/>
          <p:nvPr/>
        </p:nvGrpSpPr>
        <p:grpSpPr>
          <a:xfrm>
            <a:off x="731520" y="1650492"/>
            <a:ext cx="2286000" cy="914400"/>
            <a:chOff x="731520" y="1650492"/>
            <a:chExt cx="2286000" cy="914400"/>
          </a:xfrm>
        </p:grpSpPr>
        <p:sp>
          <p:nvSpPr>
            <p:cNvPr id="7" name="Shape 5"/>
            <p:cNvSpPr/>
            <p:nvPr/>
          </p:nvSpPr>
          <p:spPr>
            <a:xfrm>
              <a:off x="731520" y="1650492"/>
              <a:ext cx="2286000" cy="914400"/>
            </a:xfrm>
            <a:prstGeom prst="roundRect">
              <a:avLst>
                <a:gd name="adj" fmla="val 14000"/>
              </a:avLst>
            </a:prstGeom>
            <a:solidFill>
              <a:srgbClr val="F5F1FF"/>
            </a:solidFill>
            <a:ln w="12700">
              <a:solidFill>
                <a:srgbClr val="DDE5FF"/>
              </a:solidFill>
              <a:prstDash val="solid"/>
            </a:ln>
            <a:effectLst>
              <a:outerShdw blurRad="12700" dist="12700" dir="2700000" algn="bl" rotWithShape="0">
                <a:srgbClr val="9AA7D1">
                  <a:alpha val="12000"/>
                </a:srgbClr>
              </a:outerShdw>
            </a:effectLst>
          </p:spPr>
        </p:sp>
        <p:sp>
          <p:nvSpPr>
            <p:cNvPr id="8" name="Shape 6"/>
            <p:cNvSpPr/>
            <p:nvPr/>
          </p:nvSpPr>
          <p:spPr>
            <a:xfrm>
              <a:off x="896112" y="1869948"/>
              <a:ext cx="310896" cy="310896"/>
            </a:xfrm>
            <a:prstGeom prst="ellipse">
              <a:avLst/>
            </a:prstGeom>
            <a:solidFill>
              <a:srgbClr val="10B981"/>
            </a:solidFill>
            <a:ln w="12700">
              <a:solidFill>
                <a:srgbClr val="10B981"/>
              </a:solidFill>
              <a:prstDash val="solid"/>
            </a:ln>
          </p:spPr>
        </p:sp>
        <p:sp>
          <p:nvSpPr>
            <p:cNvPr id="9" name="Text 7"/>
            <p:cNvSpPr/>
            <p:nvPr/>
          </p:nvSpPr>
          <p:spPr>
            <a:xfrm>
              <a:off x="896112" y="1929384"/>
              <a:ext cx="310896" cy="91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1298448" y="1869948"/>
              <a:ext cx="1719072" cy="37042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b="1" dirty="0">
                  <a:solidFill>
                    <a:srgbClr val="1F2552"/>
                  </a:solidFill>
                </a:rPr>
                <a:t>구글</a:t>
              </a:r>
              <a:r>
                <a:rPr lang="en-US" sz="1800" b="1" dirty="0">
                  <a:solidFill>
                    <a:srgbClr val="1F2552"/>
                  </a:solidFill>
                </a:rPr>
                <a:t>/Gemini</a:t>
              </a:r>
              <a:endParaRPr lang="en-US" sz="1800" dirty="0"/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250417D6-06F7-0CB4-1F28-7EA739CEF914}"/>
              </a:ext>
            </a:extLst>
          </p:cNvPr>
          <p:cNvGrpSpPr/>
          <p:nvPr/>
        </p:nvGrpSpPr>
        <p:grpSpPr>
          <a:xfrm>
            <a:off x="3524624" y="1644555"/>
            <a:ext cx="2286000" cy="914400"/>
            <a:chOff x="3429000" y="1649686"/>
            <a:chExt cx="2286000" cy="914400"/>
          </a:xfrm>
        </p:grpSpPr>
        <p:sp>
          <p:nvSpPr>
            <p:cNvPr id="11" name="Shape 9"/>
            <p:cNvSpPr/>
            <p:nvPr/>
          </p:nvSpPr>
          <p:spPr>
            <a:xfrm>
              <a:off x="3429000" y="1649686"/>
              <a:ext cx="2286000" cy="914400"/>
            </a:xfrm>
            <a:prstGeom prst="roundRect">
              <a:avLst>
                <a:gd name="adj" fmla="val 14000"/>
              </a:avLst>
            </a:prstGeom>
            <a:solidFill>
              <a:srgbClr val="FFFFFF"/>
            </a:solidFill>
            <a:ln w="12700">
              <a:solidFill>
                <a:srgbClr val="DDE5FF"/>
              </a:solidFill>
              <a:prstDash val="solid"/>
            </a:ln>
            <a:effectLst>
              <a:outerShdw blurRad="12700" dist="12700" dir="2700000" algn="bl" rotWithShape="0">
                <a:srgbClr val="9AA7D1">
                  <a:alpha val="12000"/>
                </a:srgbClr>
              </a:outerShdw>
            </a:effectLst>
          </p:spPr>
        </p:sp>
        <p:sp>
          <p:nvSpPr>
            <p:cNvPr id="12" name="Shape 10"/>
            <p:cNvSpPr/>
            <p:nvPr/>
          </p:nvSpPr>
          <p:spPr>
            <a:xfrm>
              <a:off x="3593592" y="1869948"/>
              <a:ext cx="310896" cy="310896"/>
            </a:xfrm>
            <a:prstGeom prst="ellipse">
              <a:avLst/>
            </a:prstGeom>
            <a:solidFill>
              <a:srgbClr val="10B981"/>
            </a:solidFill>
            <a:ln w="12700">
              <a:solidFill>
                <a:srgbClr val="10B981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3593592" y="1929384"/>
              <a:ext cx="310896" cy="91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3995928" y="1920240"/>
              <a:ext cx="14630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1F2552"/>
                  </a:solidFill>
                </a:rPr>
                <a:t>GitHub 계정</a:t>
              </a:r>
              <a:endParaRPr lang="en-US" sz="1800" dirty="0"/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526F7B4B-8AD3-CF04-2F5E-03A3F65392A8}"/>
              </a:ext>
            </a:extLst>
          </p:cNvPr>
          <p:cNvGrpSpPr/>
          <p:nvPr/>
        </p:nvGrpSpPr>
        <p:grpSpPr>
          <a:xfrm>
            <a:off x="6250790" y="1650492"/>
            <a:ext cx="2286000" cy="914400"/>
            <a:chOff x="6250790" y="1650492"/>
            <a:chExt cx="2286000" cy="914400"/>
          </a:xfrm>
        </p:grpSpPr>
        <p:sp>
          <p:nvSpPr>
            <p:cNvPr id="15" name="Shape 13"/>
            <p:cNvSpPr/>
            <p:nvPr/>
          </p:nvSpPr>
          <p:spPr>
            <a:xfrm>
              <a:off x="6250790" y="1650492"/>
              <a:ext cx="2286000" cy="914400"/>
            </a:xfrm>
            <a:prstGeom prst="roundRect">
              <a:avLst>
                <a:gd name="adj" fmla="val 14000"/>
              </a:avLst>
            </a:prstGeom>
            <a:solidFill>
              <a:srgbClr val="F5F1FF"/>
            </a:solidFill>
            <a:ln w="12700">
              <a:solidFill>
                <a:srgbClr val="DDE5FF"/>
              </a:solidFill>
              <a:prstDash val="solid"/>
            </a:ln>
            <a:effectLst>
              <a:outerShdw blurRad="12700" dist="12700" dir="2700000" algn="bl" rotWithShape="0">
                <a:srgbClr val="9AA7D1">
                  <a:alpha val="12000"/>
                </a:srgbClr>
              </a:outerShdw>
            </a:effectLst>
          </p:spPr>
        </p:sp>
        <p:sp>
          <p:nvSpPr>
            <p:cNvPr id="16" name="Shape 14"/>
            <p:cNvSpPr/>
            <p:nvPr/>
          </p:nvSpPr>
          <p:spPr>
            <a:xfrm>
              <a:off x="6415382" y="1869948"/>
              <a:ext cx="310896" cy="310896"/>
            </a:xfrm>
            <a:prstGeom prst="ellipse">
              <a:avLst/>
            </a:prstGeom>
            <a:solidFill>
              <a:srgbClr val="10B981"/>
            </a:solidFill>
            <a:ln w="12700">
              <a:solidFill>
                <a:srgbClr val="10B981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6415382" y="1929384"/>
              <a:ext cx="310896" cy="91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6769906" y="1920240"/>
              <a:ext cx="146304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 dirty="0">
                  <a:solidFill>
                    <a:srgbClr val="1F2552"/>
                  </a:solidFill>
                </a:rPr>
                <a:t>Vercel 계정</a:t>
              </a:r>
              <a:endParaRPr lang="en-US" sz="1800" dirty="0"/>
            </a:p>
          </p:txBody>
        </p:sp>
      </p:grp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6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94295A6A-1E1E-2D70-FBE6-4FF081DBCE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8856" y="2838193"/>
            <a:ext cx="2657536" cy="502920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DD3733B0-347F-485F-A1CF-A706F9CC0B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6721" y="2752296"/>
            <a:ext cx="1814138" cy="916733"/>
          </a:xfrm>
          <a:prstGeom prst="rect">
            <a:avLst/>
          </a:prstGeom>
        </p:spPr>
      </p:pic>
      <p:sp>
        <p:nvSpPr>
          <p:cNvPr id="32" name="원형: 비어 있음 31">
            <a:extLst>
              <a:ext uri="{FF2B5EF4-FFF2-40B4-BE49-F238E27FC236}">
                <a16:creationId xmlns:a16="http://schemas.microsoft.com/office/drawing/2014/main" id="{21D7BDE1-CACD-C3DC-8AC3-E026DCB74FDF}"/>
              </a:ext>
            </a:extLst>
          </p:cNvPr>
          <p:cNvSpPr/>
          <p:nvPr/>
        </p:nvSpPr>
        <p:spPr>
          <a:xfrm>
            <a:off x="6732494" y="3527182"/>
            <a:ext cx="125506" cy="116541"/>
          </a:xfrm>
          <a:prstGeom prst="donu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미니 기획 캔버스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3657600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49047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552"/>
                </a:solidFill>
              </a:rPr>
              <a:t>서비스 이름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1728216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0" i="0" dirty="0">
                <a:solidFill>
                  <a:schemeClr val="accent1"/>
                </a:solidFill>
                <a:effectLst/>
                <a:latin typeface="Pretendard"/>
              </a:rPr>
              <a:t>예</a:t>
            </a:r>
            <a:r>
              <a:rPr lang="en-US" altLang="ko-KR" sz="1100" b="0" i="0" dirty="0">
                <a:solidFill>
                  <a:schemeClr val="accent1"/>
                </a:solidFill>
                <a:effectLst/>
                <a:latin typeface="Pretendard"/>
              </a:rPr>
              <a:t>: Focus High</a:t>
            </a:r>
            <a:endParaRPr lang="en-US" sz="1100" dirty="0">
              <a:solidFill>
                <a:schemeClr val="accent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663440" y="1325880"/>
            <a:ext cx="3794760" cy="731520"/>
          </a:xfrm>
          <a:prstGeom prst="roundRect">
            <a:avLst>
              <a:gd name="adj" fmla="val 17500"/>
            </a:avLst>
          </a:prstGeom>
          <a:solidFill>
            <a:srgbClr val="F5F1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0" y="149047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552"/>
                </a:solidFill>
              </a:rPr>
              <a:t>사용자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846320" y="1728216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0" i="0" dirty="0">
                <a:solidFill>
                  <a:schemeClr val="accent1"/>
                </a:solidFill>
                <a:effectLst/>
                <a:latin typeface="Pretendard"/>
              </a:rPr>
              <a:t>예</a:t>
            </a:r>
            <a:r>
              <a:rPr lang="en-US" altLang="ko-KR" sz="1100" b="0" i="0" dirty="0">
                <a:solidFill>
                  <a:schemeClr val="accent1"/>
                </a:solidFill>
                <a:effectLst/>
                <a:latin typeface="Pretendard"/>
              </a:rPr>
              <a:t>: </a:t>
            </a:r>
            <a:r>
              <a:rPr lang="ko-KR" altLang="en-US" sz="1100" b="0" i="0" dirty="0">
                <a:solidFill>
                  <a:schemeClr val="accent1"/>
                </a:solidFill>
                <a:effectLst/>
                <a:latin typeface="Pretendard"/>
              </a:rPr>
              <a:t>고등학생</a:t>
            </a:r>
            <a:endParaRPr lang="en-US" sz="1100" dirty="0">
              <a:solidFill>
                <a:schemeClr val="accent1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" y="2240280"/>
            <a:ext cx="7818120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240487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552"/>
                </a:solidFill>
              </a:rPr>
              <a:t>해결할 문제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2642616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0" i="0" dirty="0">
                <a:solidFill>
                  <a:schemeClr val="accent1"/>
                </a:solidFill>
                <a:effectLst/>
                <a:latin typeface="Pretendard"/>
              </a:rPr>
              <a:t>예</a:t>
            </a:r>
            <a:r>
              <a:rPr lang="en-US" altLang="ko-KR" sz="1100" b="0" i="0" dirty="0">
                <a:solidFill>
                  <a:schemeClr val="accent1"/>
                </a:solidFill>
                <a:effectLst/>
                <a:latin typeface="Pretendard"/>
              </a:rPr>
              <a:t>: </a:t>
            </a:r>
            <a:r>
              <a:rPr lang="ko-KR" altLang="en-US" sz="1100" b="0" i="0" dirty="0">
                <a:solidFill>
                  <a:schemeClr val="accent1"/>
                </a:solidFill>
                <a:effectLst/>
                <a:latin typeface="Pretendard"/>
              </a:rPr>
              <a:t>공부할 때 집중하기 어렵다</a:t>
            </a:r>
            <a:endParaRPr lang="en-US" sz="1100" dirty="0">
              <a:solidFill>
                <a:schemeClr val="accent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40080" y="3154680"/>
            <a:ext cx="3657600" cy="731520"/>
          </a:xfrm>
          <a:prstGeom prst="roundRect">
            <a:avLst>
              <a:gd name="adj" fmla="val 17500"/>
            </a:avLst>
          </a:prstGeom>
          <a:solidFill>
            <a:srgbClr val="F5F1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331927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552"/>
                </a:solidFill>
              </a:rPr>
              <a:t>핵심 기능 3개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22960" y="3557016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0" i="0" dirty="0">
                <a:solidFill>
                  <a:schemeClr val="accent1"/>
                </a:solidFill>
                <a:effectLst/>
                <a:latin typeface="Pretendard"/>
              </a:rPr>
              <a:t>예</a:t>
            </a:r>
            <a:r>
              <a:rPr lang="en-US" altLang="ko-KR" sz="1100" b="0" i="0" dirty="0">
                <a:solidFill>
                  <a:schemeClr val="accent1"/>
                </a:solidFill>
                <a:effectLst/>
                <a:latin typeface="Pretendard"/>
              </a:rPr>
              <a:t>: </a:t>
            </a:r>
            <a:r>
              <a:rPr lang="ko-KR" altLang="en-US" sz="1100" b="0" i="0" dirty="0">
                <a:solidFill>
                  <a:schemeClr val="accent1"/>
                </a:solidFill>
                <a:effectLst/>
                <a:latin typeface="Pretendard"/>
              </a:rPr>
              <a:t>타이머</a:t>
            </a:r>
            <a:r>
              <a:rPr lang="en-US" altLang="ko-KR" sz="1100" b="0" i="0" dirty="0">
                <a:solidFill>
                  <a:schemeClr val="accent1"/>
                </a:solidFill>
                <a:effectLst/>
                <a:latin typeface="Pretendard"/>
              </a:rPr>
              <a:t>, </a:t>
            </a:r>
            <a:r>
              <a:rPr lang="ko-KR" altLang="en-US" sz="1100" b="0" i="0" dirty="0">
                <a:solidFill>
                  <a:schemeClr val="accent1"/>
                </a:solidFill>
                <a:effectLst/>
                <a:latin typeface="Pretendard"/>
              </a:rPr>
              <a:t>할 일 체크</a:t>
            </a:r>
            <a:r>
              <a:rPr lang="en-US" altLang="ko-KR" sz="1100" b="0" i="0" dirty="0">
                <a:solidFill>
                  <a:schemeClr val="accent1"/>
                </a:solidFill>
                <a:effectLst/>
                <a:latin typeface="Pretendard"/>
              </a:rPr>
              <a:t>, </a:t>
            </a:r>
            <a:r>
              <a:rPr lang="ko-KR" altLang="en-US" sz="1100" b="0" i="0" dirty="0">
                <a:solidFill>
                  <a:schemeClr val="accent1"/>
                </a:solidFill>
                <a:effectLst/>
                <a:latin typeface="Pretendard"/>
              </a:rPr>
              <a:t>응원 문구</a:t>
            </a:r>
            <a:endParaRPr lang="en-US" sz="1100" dirty="0">
              <a:solidFill>
                <a:schemeClr val="accent1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663440" y="3154680"/>
            <a:ext cx="3794760" cy="731520"/>
          </a:xfrm>
          <a:prstGeom prst="roundRect">
            <a:avLst>
              <a:gd name="adj" fmla="val 17500"/>
            </a:avLst>
          </a:prstGeom>
          <a:solidFill>
            <a:srgbClr val="FFFF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0" y="3319272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552"/>
                </a:solidFill>
              </a:rPr>
              <a:t>디자인 키워드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846320" y="3557016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0" i="0" dirty="0">
                <a:solidFill>
                  <a:schemeClr val="accent1"/>
                </a:solidFill>
                <a:effectLst/>
                <a:latin typeface="Pretendard"/>
              </a:rPr>
              <a:t>예</a:t>
            </a:r>
            <a:r>
              <a:rPr lang="en-US" altLang="ko-KR" sz="1100" b="0" i="0" dirty="0">
                <a:solidFill>
                  <a:schemeClr val="accent1"/>
                </a:solidFill>
                <a:effectLst/>
                <a:latin typeface="Pretendard"/>
              </a:rPr>
              <a:t>: </a:t>
            </a:r>
            <a:r>
              <a:rPr lang="ko-KR" altLang="en-US" sz="1100" b="0" i="0" dirty="0">
                <a:solidFill>
                  <a:schemeClr val="accent1"/>
                </a:solidFill>
                <a:effectLst/>
                <a:latin typeface="Pretendard"/>
              </a:rPr>
              <a:t>파란색</a:t>
            </a:r>
            <a:r>
              <a:rPr lang="en-US" altLang="ko-KR" sz="1100" b="0" i="0" dirty="0">
                <a:solidFill>
                  <a:schemeClr val="accent1"/>
                </a:solidFill>
                <a:effectLst/>
                <a:latin typeface="Pretendard"/>
              </a:rPr>
              <a:t>, </a:t>
            </a:r>
            <a:r>
              <a:rPr lang="ko-KR" altLang="en-US" sz="1100" b="0" i="0" dirty="0">
                <a:solidFill>
                  <a:schemeClr val="accent1"/>
                </a:solidFill>
                <a:effectLst/>
                <a:latin typeface="Pretendard"/>
              </a:rPr>
              <a:t>깔끔함</a:t>
            </a:r>
            <a:r>
              <a:rPr lang="en-US" altLang="ko-KR" sz="1100" b="0" i="0" dirty="0">
                <a:solidFill>
                  <a:schemeClr val="accent1"/>
                </a:solidFill>
                <a:effectLst/>
                <a:latin typeface="Pretendard"/>
              </a:rPr>
              <a:t>, </a:t>
            </a:r>
            <a:r>
              <a:rPr lang="ko-KR" altLang="en-US" sz="1100" b="0" i="0" dirty="0">
                <a:solidFill>
                  <a:schemeClr val="accent1"/>
                </a:solidFill>
                <a:effectLst/>
                <a:latin typeface="Pretendard"/>
              </a:rPr>
              <a:t>카드 </a:t>
            </a:r>
            <a:r>
              <a:rPr lang="en-US" altLang="ko-KR" sz="1100" b="0" i="0" dirty="0">
                <a:solidFill>
                  <a:schemeClr val="accent1"/>
                </a:solidFill>
                <a:effectLst/>
                <a:latin typeface="Pretendard"/>
              </a:rPr>
              <a:t>UI</a:t>
            </a:r>
            <a:endParaRPr lang="en-US" sz="1100" dirty="0">
              <a:solidFill>
                <a:schemeClr val="accent1"/>
              </a:solidFill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6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2시간에 적합한 서비스 원칙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68680" y="1600200"/>
            <a:ext cx="3703320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F2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작게 시작하기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F2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 3개만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F2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/ 결제 / DB 제외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709160" y="1325880"/>
            <a:ext cx="3657600" cy="2423160"/>
          </a:xfrm>
          <a:prstGeom prst="roundRect">
            <a:avLst>
              <a:gd name="adj" fmla="val 5283"/>
            </a:avLst>
          </a:prstGeom>
          <a:solidFill>
            <a:srgbClr val="FFFF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983479" y="1479176"/>
            <a:ext cx="2519979" cy="395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B82F6"/>
                </a:solidFill>
              </a:rPr>
              <a:t>왜 이렇게 할까?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983480" y="2057400"/>
            <a:ext cx="274320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E4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짧은 시간에 완성 가능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E4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오류가 생겨도 수정 쉬움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E4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배포까지 갈 확률이 높음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6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 실습 예시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7680960" cy="269748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60119" y="1473200"/>
            <a:ext cx="7126045" cy="538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552"/>
                </a:solidFill>
              </a:rPr>
              <a:t>고등학생용 집중 타이머 + 오늘의 할 일 체크리스트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05840" y="2240280"/>
            <a:ext cx="283464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E4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25분 집중 타이머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E4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체크리스트 추가/완료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E4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깔끔한 공부용 화면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005457" y="2148840"/>
            <a:ext cx="1463040" cy="1463040"/>
          </a:xfrm>
          <a:prstGeom prst="roundRect">
            <a:avLst>
              <a:gd name="adj" fmla="val 11250"/>
            </a:avLst>
          </a:prstGeom>
          <a:solidFill>
            <a:srgbClr val="EEF3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34057" y="270662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B82F6"/>
                </a:solidFill>
              </a:rPr>
              <a:t>25:00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160520" y="214884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E4A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□ 영어 단어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E4A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□ 수학 숙제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E4A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■ 과학 복습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6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800" b="1" dirty="0" err="1">
                <a:solidFill>
                  <a:srgbClr val="1F2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바이브코딩을</a:t>
            </a:r>
            <a:r>
              <a:rPr lang="ko-KR" altLang="en-US" sz="2800" b="1" dirty="0">
                <a:solidFill>
                  <a:srgbClr val="1F2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위한</a:t>
            </a:r>
            <a:r>
              <a:rPr lang="en-US" sz="2800" b="1" dirty="0">
                <a:solidFill>
                  <a:srgbClr val="1F2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800" b="1" dirty="0" err="1">
                <a:solidFill>
                  <a:srgbClr val="1F2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</a:t>
            </a:r>
            <a:r>
              <a:rPr lang="en-US" sz="2800" b="1" dirty="0">
                <a:solidFill>
                  <a:srgbClr val="1F2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800" b="1" dirty="0">
                <a:solidFill>
                  <a:srgbClr val="1F2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7498080" cy="1005840"/>
          </a:xfrm>
          <a:prstGeom prst="roundRect">
            <a:avLst>
              <a:gd name="adj" fmla="val 12727"/>
            </a:avLst>
          </a:prstGeom>
          <a:solidFill>
            <a:srgbClr val="F2EE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97280" y="1764792"/>
            <a:ext cx="6766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7C4DFF"/>
                </a:solidFill>
              </a:rPr>
              <a:t>대상 + 목적 + 기능 + 디자인 + 기술 조건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05840" y="2743200"/>
            <a:ext cx="667512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E4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 쓰는 앱인가?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E4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하게 할 것인가?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E4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기능은 무엇인가?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E4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느낌으로 보이길 원하는가?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E4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HTML/CSS/JS 등 조건은 있는가?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6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 Canvas 기본 프롬프트 예시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17320"/>
            <a:ext cx="7726680" cy="2194560"/>
          </a:xfrm>
          <a:prstGeom prst="roundRect">
            <a:avLst>
              <a:gd name="adj" fmla="val 3333"/>
            </a:avLst>
          </a:prstGeom>
          <a:solidFill>
            <a:srgbClr val="EEF3FF"/>
          </a:solidFill>
          <a:ln w="15240">
            <a:solidFill>
              <a:srgbClr val="C9D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96112" y="1554480"/>
            <a:ext cx="73974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30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고등학생이 사용할 공부 집중 웹앱을 만들어줘.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30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기능은 25분 타이머, 짧은 휴식 알림,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30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오늘의 할 일 체크리스트 3개 이상 추가/완료.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30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밝은 배경, 보라/파랑 포인트, 깔끔한 카드형 UI.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30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한 파일에서 실행 가능한 HTML/CSS/JS로 작성해줘.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8680" y="3886200"/>
            <a:ext cx="18775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</a:rPr>
              <a:t>복사해서 바로 시작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6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 Canvas 실습 단계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691640"/>
            <a:ext cx="1554480" cy="164592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96112" y="187452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F6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96112" y="221284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552"/>
                </a:solidFill>
              </a:rPr>
              <a:t>생성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96112" y="263347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E4A6D"/>
                </a:solidFill>
              </a:rPr>
              <a:t>프롬프트 입력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59152" y="23317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697480" y="1691640"/>
            <a:ext cx="1554480" cy="1645920"/>
          </a:xfrm>
          <a:prstGeom prst="roundRect">
            <a:avLst>
              <a:gd name="adj" fmla="val 8235"/>
            </a:avLst>
          </a:prstGeom>
          <a:solidFill>
            <a:srgbClr val="F4F0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62072" y="187452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4D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862072" y="221284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552"/>
                </a:solidFill>
              </a:rPr>
              <a:t>미리보기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862072" y="263347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E4A6D"/>
                </a:solidFill>
              </a:rPr>
              <a:t>작동 화면 확인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25112" y="23317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663440" y="1691640"/>
            <a:ext cx="1554480" cy="164592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28032" y="187452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82F6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28032" y="221284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552"/>
                </a:solidFill>
              </a:rPr>
              <a:t>점검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828032" y="263347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E4A6D"/>
                </a:solidFill>
              </a:rPr>
              <a:t>버튼/문구 체크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91072" y="23317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629400" y="1691640"/>
            <a:ext cx="1554480" cy="1645920"/>
          </a:xfrm>
          <a:prstGeom prst="roundRect">
            <a:avLst>
              <a:gd name="adj" fmla="val 8235"/>
            </a:avLst>
          </a:prstGeom>
          <a:solidFill>
            <a:srgbClr val="F4F0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93992" y="187452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4DFF"/>
                </a:solidFill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793992" y="2212847"/>
            <a:ext cx="1277232" cy="2584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2552"/>
                </a:solidFill>
              </a:rPr>
              <a:t>수정 요청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793992" y="263347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E4A6D"/>
                </a:solidFill>
              </a:rPr>
              <a:t>다시 요청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6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개선 예시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2468880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337560" y="1371600"/>
            <a:ext cx="2468880" cy="2286000"/>
          </a:xfrm>
          <a:prstGeom prst="roundRect">
            <a:avLst>
              <a:gd name="adj" fmla="val 5600"/>
            </a:avLst>
          </a:prstGeom>
          <a:solidFill>
            <a:srgbClr val="F3F7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35040" y="1371600"/>
            <a:ext cx="2468880" cy="2286000"/>
          </a:xfrm>
          <a:prstGeom prst="roundRect">
            <a:avLst>
              <a:gd name="adj" fmla="val 5600"/>
            </a:avLst>
          </a:prstGeom>
          <a:solidFill>
            <a:srgbClr val="F7F1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6642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B82F6"/>
                </a:solidFill>
              </a:rPr>
              <a:t>디자인 개선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1993392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EEF3FF"/>
          </a:solidFill>
          <a:ln w="15240">
            <a:solidFill>
              <a:srgbClr val="C9D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8116" y="2130552"/>
            <a:ext cx="1892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30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카드 간격을 넓히고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30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타이머를 더 크게 보여줘.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66160" y="16642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B82F6"/>
                </a:solidFill>
              </a:rPr>
              <a:t>기능 추가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520440" y="1993392"/>
            <a:ext cx="2057400" cy="1051560"/>
          </a:xfrm>
          <a:prstGeom prst="roundRect">
            <a:avLst>
              <a:gd name="adj" fmla="val 6957"/>
            </a:avLst>
          </a:prstGeom>
          <a:solidFill>
            <a:srgbClr val="EEF3FF"/>
          </a:solidFill>
          <a:ln w="15240">
            <a:solidFill>
              <a:srgbClr val="C9D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85032" y="2130552"/>
            <a:ext cx="1728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30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완료한 할 일은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30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취소선으로 표시해줘.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63640" y="16642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B82F6"/>
                </a:solidFill>
              </a:rPr>
              <a:t>오류 해결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217920" y="1993392"/>
            <a:ext cx="2057400" cy="1051560"/>
          </a:xfrm>
          <a:prstGeom prst="roundRect">
            <a:avLst>
              <a:gd name="adj" fmla="val 5926"/>
            </a:avLst>
          </a:prstGeom>
          <a:solidFill>
            <a:srgbClr val="EEF3FF"/>
          </a:solidFill>
          <a:ln w="15240">
            <a:solidFill>
              <a:srgbClr val="C9D7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2039112"/>
            <a:ext cx="172821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30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시작 버튼이 눌려도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30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타이머가 줄지 않아.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30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원인을 고쳐줘.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6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오류를 잘 설명하는 방법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77240" y="1463040"/>
            <a:ext cx="7498080" cy="2194560"/>
          </a:xfrm>
          <a:prstGeom prst="roundRect">
            <a:avLst>
              <a:gd name="adj" fmla="val 3333"/>
            </a:avLst>
          </a:prstGeom>
          <a:solidFill>
            <a:srgbClr val="EEF3FF"/>
          </a:solidFill>
          <a:ln w="15240">
            <a:solidFill>
              <a:srgbClr val="C9D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1832" y="1600200"/>
            <a:ext cx="7168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sz="1400" dirty="0">
                <a:solidFill>
                  <a:srgbClr val="2130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기대 동작: 시작 버튼을 누르면 25:00부터 1초씩 줄어든다.</a:t>
            </a:r>
            <a:endParaRPr lang="en-US" sz="14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1400" dirty="0">
                <a:solidFill>
                  <a:srgbClr val="2130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실제 동작: 버튼을 눌러도 시간이 그대로다.</a:t>
            </a:r>
            <a:endParaRPr lang="en-US" sz="14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1400" dirty="0">
                <a:solidFill>
                  <a:srgbClr val="2130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오류 메시지: 콘솔에 undefined 관련 문구가 보인다.</a:t>
            </a:r>
            <a:endParaRPr lang="en-US" sz="1400" dirty="0"/>
          </a:p>
          <a:p>
            <a:pPr marL="0" indent="0">
              <a:lnSpc>
                <a:spcPct val="200000"/>
              </a:lnSpc>
              <a:buNone/>
            </a:pPr>
            <a:r>
              <a:rPr lang="en-US" sz="1400" dirty="0">
                <a:solidFill>
                  <a:srgbClr val="2130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수정 요청: 타이머가 정상 작동하도록 원인을 찾아 고쳐줘.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397764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3E4A6D"/>
                </a:solidFill>
              </a:rPr>
              <a:t>템플릿처럼 말하면 AI가 더 잘 고친다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6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515A177-8F3D-7F74-D928-F6A65F660957}"/>
              </a:ext>
            </a:extLst>
          </p:cNvPr>
          <p:cNvSpPr/>
          <p:nvPr/>
        </p:nvSpPr>
        <p:spPr>
          <a:xfrm>
            <a:off x="548640" y="34747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1F2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 개선 및 오류 해결</a:t>
            </a:r>
            <a:endParaRPr lang="en-US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C9A239-D441-9E28-D6B8-D03668143EFC}"/>
              </a:ext>
            </a:extLst>
          </p:cNvPr>
          <p:cNvSpPr txBox="1"/>
          <p:nvPr/>
        </p:nvSpPr>
        <p:spPr>
          <a:xfrm>
            <a:off x="1118496" y="939620"/>
            <a:ext cx="7039386" cy="3745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b="1" i="0" dirty="0">
                <a:solidFill>
                  <a:srgbClr val="FF0000"/>
                </a:solidFill>
                <a:effectLst/>
                <a:latin typeface="Pretendard"/>
              </a:rPr>
              <a:t>목표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b="0" i="0" dirty="0">
                <a:solidFill>
                  <a:srgbClr val="1B1D1F"/>
                </a:solidFill>
                <a:effectLst/>
                <a:latin typeface="Pretendard"/>
              </a:rPr>
              <a:t>AI </a:t>
            </a:r>
            <a:r>
              <a:rPr lang="ko-KR" altLang="en-US" sz="1600" b="0" i="0" dirty="0">
                <a:solidFill>
                  <a:srgbClr val="1B1D1F"/>
                </a:solidFill>
                <a:effectLst/>
                <a:latin typeface="Pretendard"/>
              </a:rPr>
              <a:t>생성 결과를 그대로 끝내지 않고</a:t>
            </a:r>
            <a:r>
              <a:rPr lang="en-US" altLang="ko-KR" sz="1600" b="0" i="0" dirty="0">
                <a:solidFill>
                  <a:srgbClr val="1B1D1F"/>
                </a:solidFill>
                <a:effectLst/>
                <a:latin typeface="Pretendard"/>
              </a:rPr>
              <a:t>, </a:t>
            </a:r>
            <a:r>
              <a:rPr lang="ko-KR" altLang="en-US" sz="1600" b="0" i="0" dirty="0">
                <a:solidFill>
                  <a:srgbClr val="FF0000"/>
                </a:solidFill>
                <a:effectLst/>
                <a:latin typeface="Pretendard"/>
              </a:rPr>
              <a:t>최소 한 번 이상 개선</a:t>
            </a:r>
            <a:r>
              <a:rPr lang="ko-KR" altLang="en-US" sz="1600" b="0" i="0" dirty="0">
                <a:solidFill>
                  <a:srgbClr val="1B1D1F"/>
                </a:solidFill>
                <a:effectLst/>
                <a:latin typeface="Pretendard"/>
              </a:rPr>
              <a:t>한다</a:t>
            </a:r>
            <a:r>
              <a:rPr lang="en-US" altLang="ko-KR" sz="1600" b="0" i="0" dirty="0">
                <a:solidFill>
                  <a:srgbClr val="1B1D1F"/>
                </a:solidFill>
                <a:effectLst/>
                <a:latin typeface="Pretendard"/>
              </a:rPr>
              <a:t>.</a:t>
            </a:r>
          </a:p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b="1" i="0" dirty="0">
                <a:solidFill>
                  <a:srgbClr val="FF0000"/>
                </a:solidFill>
                <a:effectLst/>
                <a:latin typeface="Pretendard"/>
              </a:rPr>
              <a:t>필수 개선 미션 </a:t>
            </a:r>
            <a:r>
              <a:rPr lang="en-US" altLang="ko-KR" sz="1600" b="0" i="0" dirty="0">
                <a:solidFill>
                  <a:srgbClr val="1B1D1F"/>
                </a:solidFill>
                <a:effectLst/>
                <a:latin typeface="Pretendard"/>
              </a:rPr>
              <a:t>(</a:t>
            </a:r>
            <a:r>
              <a:rPr lang="ko-KR" altLang="en-US" sz="1600" b="0" i="0" dirty="0">
                <a:solidFill>
                  <a:srgbClr val="1B1D1F"/>
                </a:solidFill>
                <a:effectLst/>
                <a:latin typeface="Pretendard"/>
              </a:rPr>
              <a:t>아래 중 최소 </a:t>
            </a:r>
            <a:r>
              <a:rPr lang="en-US" altLang="ko-KR" sz="1600" b="0" i="0" dirty="0">
                <a:solidFill>
                  <a:srgbClr val="1B1D1F"/>
                </a:solidFill>
                <a:effectLst/>
                <a:latin typeface="Pretendard"/>
              </a:rPr>
              <a:t>2</a:t>
            </a:r>
            <a:r>
              <a:rPr lang="ko-KR" altLang="en-US" sz="1600" b="0" i="0" dirty="0">
                <a:solidFill>
                  <a:srgbClr val="1B1D1F"/>
                </a:solidFill>
                <a:effectLst/>
                <a:latin typeface="Pretendard"/>
              </a:rPr>
              <a:t>개를 수행</a:t>
            </a:r>
            <a:r>
              <a:rPr lang="en-US" altLang="ko-KR" sz="1600" b="0" i="0" dirty="0">
                <a:solidFill>
                  <a:srgbClr val="1B1D1F"/>
                </a:solidFill>
                <a:effectLst/>
                <a:latin typeface="Pretendard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b="0" i="0" dirty="0">
                <a:solidFill>
                  <a:srgbClr val="1B1D1F"/>
                </a:solidFill>
                <a:effectLst/>
                <a:latin typeface="Pretendard"/>
              </a:rPr>
              <a:t> </a:t>
            </a:r>
            <a:r>
              <a:rPr lang="ko-KR" altLang="en-US" sz="1600" b="0" i="0" dirty="0">
                <a:solidFill>
                  <a:srgbClr val="1B1D1F"/>
                </a:solidFill>
                <a:effectLst/>
                <a:latin typeface="Pretendard"/>
              </a:rPr>
              <a:t>서비스 제목을 자신만의 이름으로 변경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b="0" i="0" dirty="0">
                <a:solidFill>
                  <a:srgbClr val="1B1D1F"/>
                </a:solidFill>
                <a:effectLst/>
                <a:latin typeface="Pretendard"/>
              </a:rPr>
              <a:t> 색상 테마 변경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b="0" i="0" dirty="0">
                <a:solidFill>
                  <a:srgbClr val="1B1D1F"/>
                </a:solidFill>
                <a:effectLst/>
                <a:latin typeface="Pretendard"/>
              </a:rPr>
              <a:t> 버튼 문구 변경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b="0" i="0" dirty="0">
                <a:solidFill>
                  <a:srgbClr val="1B1D1F"/>
                </a:solidFill>
                <a:effectLst/>
                <a:latin typeface="Pretendard"/>
              </a:rPr>
              <a:t> 새로운 기능 </a:t>
            </a:r>
            <a:r>
              <a:rPr lang="en-US" altLang="ko-KR" sz="1600" b="0" i="0" dirty="0">
                <a:solidFill>
                  <a:srgbClr val="1B1D1F"/>
                </a:solidFill>
                <a:effectLst/>
                <a:latin typeface="Pretendard"/>
              </a:rPr>
              <a:t>1</a:t>
            </a:r>
            <a:r>
              <a:rPr lang="ko-KR" altLang="en-US" sz="1600" b="0" i="0" dirty="0">
                <a:solidFill>
                  <a:srgbClr val="1B1D1F"/>
                </a:solidFill>
                <a:effectLst/>
                <a:latin typeface="Pretendard"/>
              </a:rPr>
              <a:t>개 추가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b="0" i="0" dirty="0">
                <a:solidFill>
                  <a:srgbClr val="1B1D1F"/>
                </a:solidFill>
                <a:effectLst/>
                <a:latin typeface="Pretendard"/>
              </a:rPr>
              <a:t> 모바일 반응형 개선</a:t>
            </a:r>
            <a:endParaRPr lang="en-US" altLang="ko-KR" sz="1600" b="0" i="0" dirty="0">
              <a:solidFill>
                <a:srgbClr val="1B1D1F"/>
              </a:solidFill>
              <a:effectLst/>
              <a:latin typeface="Pretendard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b="0" i="0" dirty="0">
                <a:solidFill>
                  <a:srgbClr val="1B1D1F"/>
                </a:solidFill>
                <a:effectLst/>
                <a:latin typeface="Pretendard"/>
              </a:rPr>
              <a:t>소개 문구 또는 사용 안내 추가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b="0" i="0" dirty="0">
                <a:solidFill>
                  <a:srgbClr val="1B1D1F"/>
                </a:solidFill>
                <a:effectLst/>
                <a:latin typeface="Pretendard"/>
              </a:rPr>
              <a:t> 오류 </a:t>
            </a:r>
            <a:r>
              <a:rPr lang="en-US" altLang="ko-KR" sz="1600" b="0" i="0" dirty="0">
                <a:solidFill>
                  <a:srgbClr val="1B1D1F"/>
                </a:solidFill>
                <a:effectLst/>
                <a:latin typeface="Pretendard"/>
              </a:rPr>
              <a:t>1</a:t>
            </a:r>
            <a:r>
              <a:rPr lang="ko-KR" altLang="en-US" sz="1600" b="0" i="0" dirty="0">
                <a:solidFill>
                  <a:srgbClr val="1B1D1F"/>
                </a:solidFill>
                <a:effectLst/>
                <a:latin typeface="Pretendard"/>
              </a:rPr>
              <a:t>개를 찾아 </a:t>
            </a:r>
            <a:r>
              <a:rPr lang="en-US" altLang="ko-KR" sz="1600" b="0" i="0" dirty="0">
                <a:solidFill>
                  <a:srgbClr val="1B1D1F"/>
                </a:solidFill>
                <a:effectLst/>
                <a:latin typeface="Pretendard"/>
              </a:rPr>
              <a:t>AI</a:t>
            </a:r>
            <a:r>
              <a:rPr lang="ko-KR" altLang="en-US" sz="1600" b="0" i="0" dirty="0">
                <a:solidFill>
                  <a:srgbClr val="1B1D1F"/>
                </a:solidFill>
                <a:effectLst/>
                <a:latin typeface="Pretendard"/>
              </a:rPr>
              <a:t>에게 수정 요청</a:t>
            </a:r>
          </a:p>
        </p:txBody>
      </p:sp>
    </p:spTree>
    <p:extLst>
      <p:ext uri="{BB962C8B-B14F-4D97-AF65-F5344CB8AC3E}">
        <p14:creationId xmlns:p14="http://schemas.microsoft.com/office/powerpoint/2010/main" val="5086695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GitHub이란?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2331720" cy="246888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383280" y="1371600"/>
            <a:ext cx="2331720" cy="2468880"/>
          </a:xfrm>
          <a:prstGeom prst="roundRect">
            <a:avLst>
              <a:gd name="adj" fmla="val 5490"/>
            </a:avLst>
          </a:prstGeom>
          <a:solidFill>
            <a:srgbClr val="F4F0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035040" y="1371600"/>
            <a:ext cx="2331720" cy="246888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78308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552"/>
                </a:solidFill>
              </a:rPr>
              <a:t>Repository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2240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E4A6D"/>
                </a:solidFill>
              </a:rPr>
              <a:t>프로젝트 폴더를 온라인에 저장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11880" y="178308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4DFF"/>
                </a:solidFill>
              </a:rPr>
              <a:t>Commit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11880" y="2240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E4A6D"/>
                </a:solidFill>
              </a:rPr>
              <a:t>변경 내용을 기록하는 저장 버튼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63640" y="178308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552"/>
                </a:solidFill>
              </a:rPr>
              <a:t>README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263640" y="2240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E4A6D"/>
                </a:solidFill>
              </a:rPr>
              <a:t>프로젝트 소개 글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6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70DE73-5E94-20E3-E796-51634A31D5F5}"/>
              </a:ext>
            </a:extLst>
          </p:cNvPr>
          <p:cNvSpPr txBox="1"/>
          <p:nvPr/>
        </p:nvSpPr>
        <p:spPr>
          <a:xfrm>
            <a:off x="731520" y="4251960"/>
            <a:ext cx="387843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/>
              <a:t>https://github.com/new2eastgod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GitHub 업로드 실습 절차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325880"/>
            <a:ext cx="731520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115568" y="147218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54480" y="145389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552"/>
                </a:solidFill>
              </a:rPr>
              <a:t>새 저장소 만들기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886200" y="1463040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E4A6D"/>
                </a:solidFill>
              </a:rPr>
              <a:t>Repository 이름 정하기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2130552"/>
            <a:ext cx="7315200" cy="566928"/>
          </a:xfrm>
          <a:prstGeom prst="roundRect">
            <a:avLst>
              <a:gd name="adj" fmla="val 22581"/>
            </a:avLst>
          </a:prstGeom>
          <a:solidFill>
            <a:srgbClr val="F5F1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15568" y="227685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22585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552"/>
                </a:solidFill>
              </a:rPr>
              <a:t>파일 업로드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886200" y="2267712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E4A6D"/>
                </a:solidFill>
              </a:rPr>
              <a:t>HTML/CSS/JS 파일 넣기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14400" y="2935224"/>
            <a:ext cx="731520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115568" y="308152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30632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552"/>
                </a:solidFill>
              </a:rPr>
              <a:t>Commit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886200" y="3072384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E4A6D"/>
                </a:solidFill>
              </a:rPr>
              <a:t>변경 내용 설명 남기기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" y="3739896"/>
            <a:ext cx="7315200" cy="566928"/>
          </a:xfrm>
          <a:prstGeom prst="roundRect">
            <a:avLst>
              <a:gd name="adj" fmla="val 22581"/>
            </a:avLst>
          </a:prstGeom>
          <a:solidFill>
            <a:srgbClr val="F5F1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115568" y="388620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38679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552"/>
                </a:solidFill>
              </a:rPr>
              <a:t>README 작성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886200" y="3877056"/>
            <a:ext cx="3566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E4A6D"/>
                </a:solidFill>
              </a:rPr>
              <a:t>서비스 소개 한 줄 추가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6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F134C4C-7A66-73BA-BDB9-6F5FA3267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82" y="650494"/>
            <a:ext cx="8931835" cy="111466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2104252-0C75-8383-0500-72AD53970C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160234"/>
            <a:ext cx="4213412" cy="204504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AEA0DB3-855D-09A0-C262-27EF560FCE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850" y="2160234"/>
            <a:ext cx="3745382" cy="2045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7018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README 템플릿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325880"/>
            <a:ext cx="7406640" cy="2697480"/>
          </a:xfrm>
          <a:prstGeom prst="roundRect">
            <a:avLst>
              <a:gd name="adj" fmla="val 2712"/>
            </a:avLst>
          </a:prstGeom>
          <a:solidFill>
            <a:srgbClr val="EEF3FF"/>
          </a:solidFill>
          <a:ln w="15240">
            <a:solidFill>
              <a:srgbClr val="C9D7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87552" y="1463040"/>
            <a:ext cx="707745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30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서비스 소개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30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공부 집중을 도와주는 타이머 + 체크리스트 웹앱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30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주요 기능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30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- 25분 타이머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30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할 일 추가/완료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30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깔끔한 카드형 UI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30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사용 도구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30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 Canvas, GitHub, Vercel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30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배포 주소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30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여기에 URL 붙여넣기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6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Vercel이란?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17320"/>
            <a:ext cx="7635240" cy="246888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536192"/>
            <a:ext cx="6766560" cy="743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2552"/>
                </a:solidFill>
              </a:rPr>
              <a:t>GitHub 코드를 실제 웹사이트 URL로 공개하는 배포 서비스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1560" y="2423159"/>
            <a:ext cx="6766560" cy="463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B82F6"/>
                </a:solidFill>
              </a:rPr>
              <a:t>코드를 저장하는 곳은 GitHub, 실제로 보여주는 곳은 Vercel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6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Vercel 배포 실습 절차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828800"/>
            <a:ext cx="1188720" cy="12801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993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82F6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552"/>
                </a:solidFill>
              </a:rPr>
              <a:t>로그인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55064" y="231343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874520" y="1828800"/>
            <a:ext cx="1188720" cy="1280160"/>
          </a:xfrm>
          <a:prstGeom prst="roundRect">
            <a:avLst>
              <a:gd name="adj" fmla="val 10769"/>
            </a:avLst>
          </a:prstGeom>
          <a:solidFill>
            <a:srgbClr val="F4F0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86000" y="1993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82F6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965960" y="23774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552"/>
                </a:solidFill>
              </a:rPr>
              <a:t>Add New Project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72384" y="231343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91840" y="1828800"/>
            <a:ext cx="1188720" cy="12801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03320" y="1993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82F6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55848" y="2342478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552"/>
                </a:solidFill>
              </a:rPr>
              <a:t>GitHub 연결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89704" y="231343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709160" y="1828800"/>
            <a:ext cx="1188720" cy="1280160"/>
          </a:xfrm>
          <a:prstGeom prst="roundRect">
            <a:avLst>
              <a:gd name="adj" fmla="val 10769"/>
            </a:avLst>
          </a:prstGeom>
          <a:solidFill>
            <a:srgbClr val="F4F0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120640" y="1993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82F6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00600" y="23774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552"/>
                </a:solidFill>
              </a:rPr>
              <a:t>저장소 선택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07024" y="231343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126480" y="1828800"/>
            <a:ext cx="1188720" cy="128016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37960" y="1993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82F6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17920" y="23774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552"/>
                </a:solidFill>
              </a:rPr>
              <a:t>Deploy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24344" y="231343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B82F6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543800" y="1828800"/>
            <a:ext cx="1188720" cy="1280160"/>
          </a:xfrm>
          <a:prstGeom prst="roundRect">
            <a:avLst>
              <a:gd name="adj" fmla="val 10769"/>
            </a:avLst>
          </a:prstGeom>
          <a:solidFill>
            <a:srgbClr val="F4F0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955280" y="199339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82F6"/>
                </a:solidFill>
              </a:rPr>
              <a:t>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35240" y="23774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2552"/>
                </a:solidFill>
              </a:rPr>
              <a:t>URL 확인</a:t>
            </a:r>
            <a:endParaRPr lang="en-US" sz="14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6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F0E4E2D-46F9-D5BD-A716-EED13D447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764" y="58957"/>
            <a:ext cx="6992471" cy="236386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5AE3CEA-192B-63B6-3908-9ECF4D2A2A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9046" y="2422818"/>
            <a:ext cx="5865906" cy="2314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0668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점검 및 자주 생기는 문제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417320"/>
            <a:ext cx="3383280" cy="89611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96112" y="160020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B82F6"/>
                </a:solidFill>
              </a:rPr>
              <a:t>404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775012" y="1618488"/>
            <a:ext cx="20654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E4A6D"/>
                </a:solidFill>
              </a:rPr>
              <a:t>파일 경로 / 시작 파일 확인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26280" y="1417320"/>
            <a:ext cx="3383280" cy="896112"/>
          </a:xfrm>
          <a:prstGeom prst="roundRect">
            <a:avLst>
              <a:gd name="adj" fmla="val 14286"/>
            </a:avLst>
          </a:prstGeom>
          <a:solidFill>
            <a:srgbClr val="F7F1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690872" y="1600200"/>
            <a:ext cx="749808" cy="4527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7C4DFF"/>
                </a:solidFill>
              </a:rPr>
              <a:t>CSS 미적용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715000" y="1618488"/>
            <a:ext cx="1920240" cy="392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E4A6D"/>
                </a:solidFill>
              </a:rPr>
              <a:t>css 링크 이름 확인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651760"/>
            <a:ext cx="3383280" cy="89611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96112" y="2834640"/>
            <a:ext cx="792241" cy="42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B82F6"/>
                </a:solidFill>
              </a:rPr>
              <a:t>버튼 미작동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813859" y="2852928"/>
            <a:ext cx="2026621" cy="290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E4A6D"/>
                </a:solidFill>
              </a:rPr>
              <a:t>콘솔 오류 메시지 보기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26280" y="2651760"/>
            <a:ext cx="3383280" cy="896112"/>
          </a:xfrm>
          <a:prstGeom prst="roundRect">
            <a:avLst>
              <a:gd name="adj" fmla="val 14286"/>
            </a:avLst>
          </a:prstGeom>
          <a:solidFill>
            <a:srgbClr val="F7F1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90872" y="2834640"/>
            <a:ext cx="749808" cy="515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7C4DFF"/>
                </a:solidFill>
              </a:rPr>
              <a:t>빌드 오류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714999" y="2852928"/>
            <a:ext cx="2066365" cy="404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E4A6D"/>
                </a:solidFill>
              </a:rPr>
              <a:t>최근 수정 내용 되돌아보기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6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F6298F6-6C03-EFD7-DBDE-E970D2818B9A}"/>
              </a:ext>
            </a:extLst>
          </p:cNvPr>
          <p:cNvSpPr/>
          <p:nvPr/>
        </p:nvSpPr>
        <p:spPr>
          <a:xfrm>
            <a:off x="548640" y="34747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F2552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F2552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F2552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1F2552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F2552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F2552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주제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lgun Gothic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7ADEB6-E404-15BC-9B1E-4B2BD923E852}"/>
              </a:ext>
            </a:extLst>
          </p:cNvPr>
          <p:cNvSpPr txBox="1"/>
          <p:nvPr/>
        </p:nvSpPr>
        <p:spPr>
          <a:xfrm>
            <a:off x="1108636" y="1048753"/>
            <a:ext cx="5952564" cy="333649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B1D1F"/>
                </a:solidFill>
                <a:effectLst/>
                <a:uLnTx/>
                <a:uFillTx/>
                <a:latin typeface="Pretendard"/>
                <a:ea typeface="맑은 고딕" panose="020B0503020000020004" pitchFamily="50" charset="-127"/>
                <a:cs typeface="+mn-cs"/>
              </a:rPr>
              <a:t>오늘의 기분 기록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1D1F"/>
                </a:solidFill>
                <a:effectLst/>
                <a:uLnTx/>
                <a:uFillTx/>
                <a:latin typeface="Pretendard"/>
                <a:ea typeface="맑은 고딕" panose="020B0503020000020004" pitchFamily="50" charset="-127"/>
                <a:cs typeface="+mn-cs"/>
              </a:rPr>
              <a:t> 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1B1D1F"/>
                </a:solidFill>
                <a:effectLst/>
                <a:uLnTx/>
                <a:uFillTx/>
                <a:latin typeface="Pretendard"/>
                <a:ea typeface="맑은 고딕" panose="020B0503020000020004" pitchFamily="50" charset="-127"/>
                <a:cs typeface="+mn-cs"/>
              </a:rPr>
              <a:t>웹앱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1B1D1F"/>
              </a:solidFill>
              <a:effectLst/>
              <a:uLnTx/>
              <a:uFillTx/>
              <a:latin typeface="Pretendard"/>
              <a:ea typeface="맑은 고딕" panose="020B0503020000020004" pitchFamily="50" charset="-127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B1D1F"/>
                </a:solidFill>
                <a:effectLst/>
                <a:uLnTx/>
                <a:uFillTx/>
                <a:latin typeface="Pretendard"/>
                <a:ea typeface="맑은 고딕" panose="020B0503020000020004" pitchFamily="50" charset="-127"/>
                <a:cs typeface="+mn-cs"/>
              </a:rPr>
              <a:t>급식 메뉴 추천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1D1F"/>
                </a:solidFill>
                <a:effectLst/>
                <a:uLnTx/>
                <a:uFillTx/>
                <a:latin typeface="Pretendard"/>
                <a:ea typeface="맑은 고딕" panose="020B0503020000020004" pitchFamily="50" charset="-127"/>
                <a:cs typeface="+mn-cs"/>
              </a:rPr>
              <a:t> 페이지</a:t>
            </a:r>
          </a:p>
          <a:p>
            <a:pPr marL="285750" marR="0" lvl="0" indent="-2857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1B1D1F"/>
                </a:solidFill>
                <a:effectLst/>
                <a:uLnTx/>
                <a:uFillTx/>
                <a:latin typeface="Pretendard"/>
                <a:ea typeface="맑은 고딕" panose="020B0503020000020004" pitchFamily="50" charset="-127"/>
                <a:cs typeface="+mn-cs"/>
              </a:rPr>
              <a:t>MBTI/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B1D1F"/>
                </a:solidFill>
                <a:effectLst/>
                <a:uLnTx/>
                <a:uFillTx/>
                <a:latin typeface="Pretendard"/>
                <a:ea typeface="맑은 고딕" panose="020B0503020000020004" pitchFamily="50" charset="-127"/>
                <a:cs typeface="+mn-cs"/>
              </a:rPr>
              <a:t>취향 퀴즈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1B1D1F"/>
              </a:solidFill>
              <a:effectLst/>
              <a:uLnTx/>
              <a:uFillTx/>
              <a:latin typeface="Pretendard"/>
              <a:ea typeface="맑은 고딕" panose="020B0503020000020004" pitchFamily="50" charset="-127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B1D1F"/>
                </a:solidFill>
                <a:effectLst/>
                <a:uLnTx/>
                <a:uFillTx/>
                <a:latin typeface="Pretendard"/>
                <a:ea typeface="맑은 고딕" panose="020B0503020000020004" pitchFamily="50" charset="-127"/>
                <a:cs typeface="+mn-cs"/>
              </a:rPr>
              <a:t>학교생활 </a:t>
            </a:r>
            <a:r>
              <a:rPr kumimoji="0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1B1D1F"/>
                </a:solidFill>
                <a:effectLst/>
                <a:uLnTx/>
                <a:uFillTx/>
                <a:latin typeface="Pretendard"/>
                <a:ea typeface="맑은 고딕" panose="020B0503020000020004" pitchFamily="50" charset="-127"/>
                <a:cs typeface="+mn-cs"/>
              </a:rPr>
              <a:t>꿀팁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B1D1F"/>
                </a:solidFill>
                <a:effectLst/>
                <a:uLnTx/>
                <a:uFillTx/>
                <a:latin typeface="Pretendard"/>
                <a:ea typeface="맑은 고딕" panose="020B0503020000020004" pitchFamily="50" charset="-127"/>
                <a:cs typeface="+mn-cs"/>
              </a:rPr>
              <a:t> 카드뉴스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1B1D1F"/>
                </a:solidFill>
                <a:effectLst/>
                <a:uLnTx/>
                <a:uFillTx/>
                <a:latin typeface="Pretendard"/>
                <a:ea typeface="맑은 고딕" panose="020B0503020000020004" pitchFamily="50" charset="-127"/>
                <a:cs typeface="+mn-cs"/>
              </a:rPr>
              <a:t> 페이지</a:t>
            </a:r>
          </a:p>
          <a:p>
            <a:pPr marL="285750" marR="0" lvl="0" indent="-2857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B1D1F"/>
                </a:solidFill>
                <a:effectLst/>
                <a:uLnTx/>
                <a:uFillTx/>
                <a:latin typeface="Pretendard"/>
                <a:ea typeface="맑은 고딕" panose="020B0503020000020004" pitchFamily="50" charset="-127"/>
                <a:cs typeface="+mn-cs"/>
              </a:rPr>
              <a:t>랜덤 명언</a:t>
            </a:r>
            <a:r>
              <a:rPr kumimoji="0" lang="en-US" altLang="ko-KR" sz="1800" b="1" i="0" u="none" strike="noStrike" kern="1200" cap="none" spc="0" normalizeH="0" baseline="0" noProof="0" dirty="0">
                <a:ln>
                  <a:noFill/>
                </a:ln>
                <a:solidFill>
                  <a:srgbClr val="1B1D1F"/>
                </a:solidFill>
                <a:effectLst/>
                <a:uLnTx/>
                <a:uFillTx/>
                <a:latin typeface="Pretendard"/>
                <a:ea typeface="맑은 고딕" panose="020B0503020000020004" pitchFamily="50" charset="-127"/>
                <a:cs typeface="+mn-cs"/>
              </a:rPr>
              <a:t>·</a:t>
            </a: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B1D1F"/>
                </a:solidFill>
                <a:effectLst/>
                <a:uLnTx/>
                <a:uFillTx/>
                <a:latin typeface="Pretendard"/>
                <a:ea typeface="맑은 고딕" panose="020B0503020000020004" pitchFamily="50" charset="-127"/>
                <a:cs typeface="+mn-cs"/>
              </a:rPr>
              <a:t>응원 메시지 </a:t>
            </a:r>
            <a:r>
              <a:rPr kumimoji="0" lang="ko-KR" alt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1B1D1F"/>
                </a:solidFill>
                <a:effectLst/>
                <a:uLnTx/>
                <a:uFillTx/>
                <a:latin typeface="Pretendard"/>
                <a:ea typeface="맑은 고딕" panose="020B0503020000020004" pitchFamily="50" charset="-127"/>
                <a:cs typeface="+mn-cs"/>
              </a:rPr>
              <a:t>생성기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1B1D1F"/>
              </a:solidFill>
              <a:effectLst/>
              <a:uLnTx/>
              <a:uFillTx/>
              <a:latin typeface="Pretendard"/>
              <a:ea typeface="맑은 고딕" panose="020B0503020000020004" pitchFamily="50" charset="-127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B1D1F"/>
                </a:solidFill>
                <a:effectLst/>
                <a:uLnTx/>
                <a:uFillTx/>
                <a:latin typeface="Pretendard"/>
                <a:ea typeface="맑은 고딕" panose="020B0503020000020004" pitchFamily="50" charset="-127"/>
                <a:cs typeface="+mn-cs"/>
              </a:rPr>
              <a:t>친환경 실천 체크리스트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1B1D1F"/>
              </a:solidFill>
              <a:effectLst/>
              <a:uLnTx/>
              <a:uFillTx/>
              <a:latin typeface="Pretendard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17224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55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체크리스트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051560" y="1234440"/>
            <a:ext cx="6995160" cy="384048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234440" y="130759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</a:rPr>
              <a:t>□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36192" y="1307592"/>
            <a:ext cx="6126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552"/>
                </a:solidFill>
              </a:rPr>
              <a:t>Gemini Canvas로 제작 완료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51560" y="1764792"/>
            <a:ext cx="6995160" cy="384048"/>
          </a:xfrm>
          <a:prstGeom prst="roundRect">
            <a:avLst>
              <a:gd name="adj" fmla="val 33333"/>
            </a:avLst>
          </a:prstGeom>
          <a:solidFill>
            <a:srgbClr val="F5F1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34440" y="183794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</a:rPr>
              <a:t>□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36192" y="1837944"/>
            <a:ext cx="6126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552"/>
                </a:solidFill>
              </a:rPr>
              <a:t>수정 요청으로 개선 완료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51560" y="2295144"/>
            <a:ext cx="6995160" cy="384048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234440" y="236829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</a:rPr>
              <a:t>□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36192" y="2368296"/>
            <a:ext cx="6126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552"/>
                </a:solidFill>
              </a:rPr>
              <a:t>GitHub 업로드 완료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51560" y="2825496"/>
            <a:ext cx="6995160" cy="384048"/>
          </a:xfrm>
          <a:prstGeom prst="roundRect">
            <a:avLst>
              <a:gd name="adj" fmla="val 33333"/>
            </a:avLst>
          </a:prstGeom>
          <a:solidFill>
            <a:srgbClr val="F5F1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234440" y="289864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</a:rPr>
              <a:t>□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36192" y="2898648"/>
            <a:ext cx="6126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552"/>
                </a:solidFill>
              </a:rPr>
              <a:t>README 작성 완료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51560" y="3355848"/>
            <a:ext cx="6995160" cy="384048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234440" y="342900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</a:rPr>
              <a:t>□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36192" y="3429000"/>
            <a:ext cx="6126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552"/>
                </a:solidFill>
              </a:rPr>
              <a:t>Vercel URL 확인 완료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51560" y="3886200"/>
            <a:ext cx="6995160" cy="384048"/>
          </a:xfrm>
          <a:prstGeom prst="roundRect">
            <a:avLst>
              <a:gd name="adj" fmla="val 33333"/>
            </a:avLst>
          </a:prstGeom>
          <a:solidFill>
            <a:srgbClr val="F5F1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234440" y="3959352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</a:rPr>
              <a:t>□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36192" y="3959352"/>
            <a:ext cx="6126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552"/>
                </a:solidFill>
              </a:rPr>
              <a:t>친구에게 공유 준비 완료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6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F25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8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결과물 공유와 </a:t>
            </a:r>
            <a:r>
              <a:rPr lang="en-US" sz="2800" b="1" dirty="0" err="1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325880"/>
            <a:ext cx="3657600" cy="25146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709160" y="1325880"/>
            <a:ext cx="3749040" cy="2514600"/>
          </a:xfrm>
          <a:prstGeom prst="roundRect">
            <a:avLst>
              <a:gd name="adj" fmla="val 5091"/>
            </a:avLst>
          </a:prstGeom>
          <a:solidFill>
            <a:srgbClr val="F3F7FF"/>
          </a:solidFill>
          <a:ln w="12700">
            <a:solidFill>
              <a:srgbClr val="DDE5FF"/>
            </a:solidFill>
            <a:prstDash val="solid"/>
          </a:ln>
          <a:effectLst>
            <a:outerShdw blurRad="12700" dist="12700" dir="2700000" algn="bl" rotWithShape="0">
              <a:srgbClr val="9AA7D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399" y="1645920"/>
            <a:ext cx="22172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200" b="1" dirty="0">
                <a:solidFill>
                  <a:srgbClr val="00B0F0"/>
                </a:solidFill>
              </a:rPr>
              <a:t>미니 발표 양식</a:t>
            </a:r>
            <a:endParaRPr lang="en-US" sz="2200" dirty="0">
              <a:solidFill>
                <a:srgbClr val="00B0F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283464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E4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서비스 이름은?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E4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문제를 해결하나?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E4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마음에 드는 기능은?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3E4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URL은?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983479" y="1645920"/>
            <a:ext cx="277099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B0F0"/>
                </a:solidFill>
              </a:rPr>
              <a:t>다음 </a:t>
            </a:r>
            <a:r>
              <a:rPr lang="en-US" sz="2200" b="1" dirty="0" err="1">
                <a:solidFill>
                  <a:srgbClr val="00B0F0"/>
                </a:solidFill>
              </a:rPr>
              <a:t>확장</a:t>
            </a:r>
            <a:r>
              <a:rPr lang="en-US" sz="2200" b="1" dirty="0">
                <a:solidFill>
                  <a:srgbClr val="00B0F0"/>
                </a:solidFill>
              </a:rPr>
              <a:t> </a:t>
            </a:r>
            <a:r>
              <a:rPr lang="ko-KR" altLang="en-US" sz="2200" b="1" dirty="0">
                <a:solidFill>
                  <a:srgbClr val="00B0F0"/>
                </a:solidFill>
              </a:rPr>
              <a:t>과제</a:t>
            </a:r>
            <a:endParaRPr lang="en-US" sz="2200" dirty="0">
              <a:solidFill>
                <a:srgbClr val="00B0F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4983479" y="2011680"/>
            <a:ext cx="3380591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342900" indent="-342900">
              <a:buSzPct val="100000"/>
              <a:buChar char="•"/>
            </a:pPr>
            <a:r>
              <a:rPr lang="en-US" sz="1700" dirty="0" err="1">
                <a:solidFill>
                  <a:srgbClr val="3E4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다크모드</a:t>
            </a:r>
            <a:r>
              <a:rPr lang="en-US" sz="1700" dirty="0">
                <a:solidFill>
                  <a:srgbClr val="3E4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700" dirty="0">
                <a:solidFill>
                  <a:srgbClr val="3E4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ko-KR" altLang="en-US" sz="1700" dirty="0">
                <a:solidFill>
                  <a:srgbClr val="3E4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저장소에 데이터</a:t>
            </a:r>
            <a:r>
              <a:rPr lang="en-US" sz="1700" dirty="0">
                <a:solidFill>
                  <a:srgbClr val="3E4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저장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ko-KR" altLang="en-US" sz="1700" dirty="0">
                <a:solidFill>
                  <a:srgbClr val="3E4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랜덤 명언 </a:t>
            </a:r>
            <a:r>
              <a:rPr lang="en-US" sz="1700" dirty="0">
                <a:solidFill>
                  <a:srgbClr val="3E4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연결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 err="1">
                <a:solidFill>
                  <a:srgbClr val="3E4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포트폴리오에</a:t>
            </a:r>
            <a:r>
              <a:rPr lang="en-US" sz="1700" dirty="0">
                <a:solidFill>
                  <a:srgbClr val="3E4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700" dirty="0" err="1">
                <a:solidFill>
                  <a:srgbClr val="3E4A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</a:t>
            </a:r>
            <a:endParaRPr lang="en-US" sz="1700" dirty="0">
              <a:solidFill>
                <a:srgbClr val="3E4A6D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800100" lvl="1" indent="-342900">
              <a:buSzPct val="100000"/>
              <a:buChar char="•"/>
            </a:pPr>
            <a:r>
              <a:rPr lang="ko-KR" altLang="en-US" sz="1600" dirty="0">
                <a:solidFill>
                  <a:srgbClr val="3E4A6D"/>
                </a:solidFill>
                <a:latin typeface="Malgun Gothic" pitchFamily="34" charset="0"/>
                <a:ea typeface="Malgun Gothic" pitchFamily="34" charset="-122"/>
              </a:rPr>
              <a:t>스크린샷</a:t>
            </a:r>
            <a:endParaRPr lang="en-US" altLang="ko-KR" sz="1600" dirty="0">
              <a:solidFill>
                <a:srgbClr val="3E4A6D"/>
              </a:solidFill>
              <a:latin typeface="Malgun Gothic" pitchFamily="34" charset="0"/>
              <a:ea typeface="Malgun Gothic" pitchFamily="34" charset="-122"/>
            </a:endParaRPr>
          </a:p>
          <a:p>
            <a:pPr marL="800100" lvl="1" indent="-342900">
              <a:buSzPct val="100000"/>
              <a:buChar char="•"/>
            </a:pPr>
            <a:r>
              <a:rPr lang="ko-KR" altLang="en-US" sz="1600" dirty="0">
                <a:solidFill>
                  <a:srgbClr val="3E4A6D"/>
                </a:solidFill>
                <a:latin typeface="Malgun Gothic" pitchFamily="34" charset="0"/>
                <a:ea typeface="Malgun Gothic" pitchFamily="34" charset="-122"/>
              </a:rPr>
              <a:t>제작과정과 배운 점</a:t>
            </a:r>
            <a:endParaRPr lang="en-US" altLang="ko-KR" sz="1600" dirty="0">
              <a:solidFill>
                <a:srgbClr val="3E4A6D"/>
              </a:solidFill>
              <a:latin typeface="Malgun Gothic" pitchFamily="34" charset="0"/>
              <a:ea typeface="Malgun Gothic" pitchFamily="34" charset="-122"/>
            </a:endParaRPr>
          </a:p>
          <a:p>
            <a:pPr marL="800100" lvl="1" indent="-342900">
              <a:buSzPct val="100000"/>
              <a:buChar char="•"/>
            </a:pPr>
            <a:r>
              <a:rPr lang="ko-KR" altLang="en-US" sz="1600" dirty="0" err="1">
                <a:solidFill>
                  <a:srgbClr val="3E4A6D"/>
                </a:solidFill>
                <a:latin typeface="Malgun Gothic" pitchFamily="34" charset="0"/>
                <a:ea typeface="Malgun Gothic" pitchFamily="34" charset="-122"/>
              </a:rPr>
              <a:t>깃허브와</a:t>
            </a:r>
            <a:r>
              <a:rPr lang="ko-KR" altLang="en-US" sz="1600" dirty="0">
                <a:solidFill>
                  <a:srgbClr val="3E4A6D"/>
                </a:solidFill>
                <a:latin typeface="Malgun Gothic" pitchFamily="34" charset="0"/>
                <a:ea typeface="Malgun Gothic" pitchFamily="34" charset="-122"/>
              </a:rPr>
              <a:t> 배포 링크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4111812"/>
            <a:ext cx="6949440" cy="460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0000"/>
                </a:solidFill>
              </a:rPr>
              <a:t>오늘 만든 작은 앱이 미래 포트폴리오의 시작!</a:t>
            </a:r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75320" y="4773168"/>
            <a:ext cx="32004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A86A8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1512</Words>
  <Application>Microsoft Office PowerPoint</Application>
  <PresentationFormat>화면 슬라이드 쇼(16:9)</PresentationFormat>
  <Paragraphs>322</Paragraphs>
  <Slides>26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2" baseType="lpstr">
      <vt:lpstr>Pretendard</vt:lpstr>
      <vt:lpstr>Malgun Gothic</vt:lpstr>
      <vt:lpstr>Arial</vt:lpstr>
      <vt:lpstr>Consolas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Gemini Canvas로 만드는 나만의 웹앱</dc:title>
  <dc:subject>고등학생 대상 2시간 바이브 코딩 특강</dc:subject>
  <dc:creator>OpenAI</dc:creator>
  <cp:lastModifiedBy>김동신</cp:lastModifiedBy>
  <cp:revision>11</cp:revision>
  <dcterms:created xsi:type="dcterms:W3CDTF">2026-07-15T03:30:07Z</dcterms:created>
  <dcterms:modified xsi:type="dcterms:W3CDTF">2026-07-15T06:51:45Z</dcterms:modified>
</cp:coreProperties>
</file>